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kzidenz-Grotesk Bold" charset="1" panose="02000803050000020004"/>
      <p:regular r:id="rId17"/>
    </p:embeddedFont>
    <p:embeddedFont>
      <p:font typeface="IBM Plex Sans" charset="1" panose="020B0503050203000203"/>
      <p:regular r:id="rId18"/>
    </p:embeddedFont>
    <p:embeddedFont>
      <p:font typeface="IBM Plex Sans Bold" charset="1" panose="020B0803050203000203"/>
      <p:regular r:id="rId19"/>
    </p:embeddedFont>
    <p:embeddedFont>
      <p:font typeface="IBM Plex Mono" charset="1" panose="020B0509050203000203"/>
      <p:regular r:id="rId20"/>
    </p:embeddedFont>
    <p:embeddedFont>
      <p:font typeface="Akzidenz-Grotesk Bold Italics" charset="1" panose="0200080306000009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81050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A33">
                    <a:alpha val="100000"/>
                  </a:srgbClr>
                </a:gs>
                <a:gs pos="100000">
                  <a:srgbClr val="071A3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5476875"/>
            <a:ext cx="1238250" cy="76200"/>
            <a:chOff x="0" y="0"/>
            <a:chExt cx="16510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36C5F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51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52500" y="2085975"/>
            <a:ext cx="8572500" cy="173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Programming</a:t>
            </a:r>
          </a:p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Laboratory Toolkit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886450"/>
            <a:ext cx="6572250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unified environment for learning operating systems by building with them.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191250"/>
            <a:ext cx="1809750" cy="552450"/>
            <a:chOff x="0" y="0"/>
            <a:chExt cx="2413000" cy="73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3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656389"/>
                  </a:lnTo>
                  <a:cubicBezTo>
                    <a:pt x="2413000" y="677663"/>
                    <a:pt x="2404549" y="698065"/>
                    <a:pt x="2389507" y="713107"/>
                  </a:cubicBezTo>
                  <a:cubicBezTo>
                    <a:pt x="2374465" y="728149"/>
                    <a:pt x="2354063" y="736600"/>
                    <a:pt x="2332789" y="736600"/>
                  </a:cubicBezTo>
                  <a:lnTo>
                    <a:pt x="80211" y="736600"/>
                  </a:lnTo>
                  <a:cubicBezTo>
                    <a:pt x="58937" y="736600"/>
                    <a:pt x="38536" y="728149"/>
                    <a:pt x="23493" y="713107"/>
                  </a:cubicBezTo>
                  <a:cubicBezTo>
                    <a:pt x="8451" y="698065"/>
                    <a:pt x="0" y="677663"/>
                    <a:pt x="0" y="6563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413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 CALLS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00375" y="6191250"/>
            <a:ext cx="1809750" cy="552450"/>
            <a:chOff x="0" y="0"/>
            <a:chExt cx="2413000" cy="736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3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656389"/>
                  </a:lnTo>
                  <a:cubicBezTo>
                    <a:pt x="2413000" y="677663"/>
                    <a:pt x="2404549" y="698065"/>
                    <a:pt x="2389507" y="713107"/>
                  </a:cubicBezTo>
                  <a:cubicBezTo>
                    <a:pt x="2374465" y="728149"/>
                    <a:pt x="2354063" y="736600"/>
                    <a:pt x="2332789" y="736600"/>
                  </a:cubicBezTo>
                  <a:lnTo>
                    <a:pt x="80211" y="736600"/>
                  </a:lnTo>
                  <a:cubicBezTo>
                    <a:pt x="58937" y="736600"/>
                    <a:pt x="38536" y="728149"/>
                    <a:pt x="23493" y="713107"/>
                  </a:cubicBezTo>
                  <a:cubicBezTo>
                    <a:pt x="8451" y="698065"/>
                    <a:pt x="0" y="677663"/>
                    <a:pt x="0" y="6563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413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48250" y="6191250"/>
            <a:ext cx="1809750" cy="552450"/>
            <a:chOff x="0" y="0"/>
            <a:chExt cx="2413000" cy="73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656389"/>
                  </a:lnTo>
                  <a:cubicBezTo>
                    <a:pt x="2413000" y="677663"/>
                    <a:pt x="2404549" y="698065"/>
                    <a:pt x="2389507" y="713107"/>
                  </a:cubicBezTo>
                  <a:cubicBezTo>
                    <a:pt x="2374465" y="728149"/>
                    <a:pt x="2354063" y="736600"/>
                    <a:pt x="2332789" y="736600"/>
                  </a:cubicBezTo>
                  <a:lnTo>
                    <a:pt x="80211" y="736600"/>
                  </a:lnTo>
                  <a:cubicBezTo>
                    <a:pt x="58937" y="736600"/>
                    <a:pt x="38536" y="728149"/>
                    <a:pt x="23493" y="713107"/>
                  </a:cubicBezTo>
                  <a:cubicBezTo>
                    <a:pt x="8451" y="698065"/>
                    <a:pt x="0" y="677663"/>
                    <a:pt x="0" y="6563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413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MEMORY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96125" y="6191250"/>
            <a:ext cx="1809750" cy="552450"/>
            <a:chOff x="0" y="0"/>
            <a:chExt cx="2413000" cy="73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413000">
                  <a:moveTo>
                    <a:pt x="80211" y="0"/>
                  </a:moveTo>
                  <a:lnTo>
                    <a:pt x="2332789" y="0"/>
                  </a:lnTo>
                  <a:cubicBezTo>
                    <a:pt x="2354063" y="0"/>
                    <a:pt x="2374465" y="8451"/>
                    <a:pt x="2389507" y="23493"/>
                  </a:cubicBezTo>
                  <a:cubicBezTo>
                    <a:pt x="2404549" y="38536"/>
                    <a:pt x="2413000" y="58937"/>
                    <a:pt x="2413000" y="80211"/>
                  </a:cubicBezTo>
                  <a:lnTo>
                    <a:pt x="2413000" y="656389"/>
                  </a:lnTo>
                  <a:cubicBezTo>
                    <a:pt x="2413000" y="677663"/>
                    <a:pt x="2404549" y="698065"/>
                    <a:pt x="2389507" y="713107"/>
                  </a:cubicBezTo>
                  <a:cubicBezTo>
                    <a:pt x="2374465" y="728149"/>
                    <a:pt x="2354063" y="736600"/>
                    <a:pt x="2332789" y="736600"/>
                  </a:cubicBezTo>
                  <a:lnTo>
                    <a:pt x="80211" y="736600"/>
                  </a:lnTo>
                  <a:cubicBezTo>
                    <a:pt x="58937" y="736600"/>
                    <a:pt x="38536" y="728149"/>
                    <a:pt x="23493" y="713107"/>
                  </a:cubicBezTo>
                  <a:cubicBezTo>
                    <a:pt x="8451" y="698065"/>
                    <a:pt x="0" y="677663"/>
                    <a:pt x="0" y="656389"/>
                  </a:cubicBezTo>
                  <a:lnTo>
                    <a:pt x="0" y="80211"/>
                  </a:lnTo>
                  <a:cubicBezTo>
                    <a:pt x="0" y="58937"/>
                    <a:pt x="8451" y="38536"/>
                    <a:pt x="23493" y="23493"/>
                  </a:cubicBezTo>
                  <a:cubicBezTo>
                    <a:pt x="38536" y="8451"/>
                    <a:pt x="58937" y="0"/>
                    <a:pt x="8021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413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34500" y="1809750"/>
            <a:ext cx="7810500" cy="3714750"/>
            <a:chOff x="0" y="0"/>
            <a:chExt cx="10414000" cy="495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4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14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53500" y="6191250"/>
            <a:ext cx="1619250" cy="1619250"/>
            <a:chOff x="0" y="0"/>
            <a:chExt cx="2159000" cy="215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1079500" y="0"/>
                  </a:moveTo>
                  <a:cubicBezTo>
                    <a:pt x="1675691" y="0"/>
                    <a:pt x="2159000" y="483309"/>
                    <a:pt x="2159000" y="1079500"/>
                  </a:cubicBezTo>
                  <a:cubicBezTo>
                    <a:pt x="2159000" y="1675691"/>
                    <a:pt x="1675691" y="2159000"/>
                    <a:pt x="1079500" y="2159000"/>
                  </a:cubicBezTo>
                  <a:cubicBezTo>
                    <a:pt x="483309" y="2159000"/>
                    <a:pt x="0" y="1675691"/>
                    <a:pt x="0" y="1079500"/>
                  </a:cubicBezTo>
                  <a:cubicBezTo>
                    <a:pt x="0" y="483309"/>
                    <a:pt x="483309" y="0"/>
                    <a:pt x="1079500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159000" cy="223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UNIFIED</a:t>
              </a:r>
            </a:p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LEARNING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572750" y="7000875"/>
            <a:ext cx="476250" cy="0"/>
          </a:xfrm>
          <a:prstGeom prst="line">
            <a:avLst/>
          </a:prstGeom>
          <a:ln cap="rnd" w="38100">
            <a:solidFill>
              <a:srgbClr val="1267D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1" id="21"/>
          <p:cNvSpPr txBox="true"/>
          <p:nvPr/>
        </p:nvSpPr>
        <p:spPr>
          <a:xfrm rot="0">
            <a:off x="952500" y="704850"/>
            <a:ext cx="10668000" cy="62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825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programming makes the OS tangible.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" y="2171700"/>
            <a:ext cx="7239000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E7189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Software that works directly with operating-system services, hardware resources, processes, and memory.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6000" y="2352675"/>
            <a:ext cx="6667500" cy="117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$ ./learn_os --hands-on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trace system calls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observe process state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connect theory → behavior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49000" y="6696075"/>
            <a:ext cx="5524500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33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unified toolkit removes setup friction and lets students focus on how concepts interact.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76275"/>
            <a:ext cx="10477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lab experience is fragmented.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049000" y="1809750"/>
            <a:ext cx="6191250" cy="3429000"/>
            <a:chOff x="0" y="0"/>
            <a:chExt cx="8255000" cy="457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55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55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715750" y="2447925"/>
            <a:ext cx="4953000" cy="88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fork();  wait();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open();  read();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pipe();  signal();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2619375"/>
            <a:ext cx="7953375" cy="733425"/>
            <a:chOff x="0" y="0"/>
            <a:chExt cx="10604500" cy="9779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200526" y="0"/>
                    </a:moveTo>
                    <a:lnTo>
                      <a:pt x="764674" y="0"/>
                    </a:lnTo>
                    <a:cubicBezTo>
                      <a:pt x="817857" y="0"/>
                      <a:pt x="868861" y="21127"/>
                      <a:pt x="906467" y="58733"/>
                    </a:cubicBezTo>
                    <a:cubicBezTo>
                      <a:pt x="944073" y="96339"/>
                      <a:pt x="965200" y="147343"/>
                      <a:pt x="965200" y="200526"/>
                    </a:cubicBezTo>
                    <a:lnTo>
                      <a:pt x="965200" y="764674"/>
                    </a:lnTo>
                    <a:cubicBezTo>
                      <a:pt x="965200" y="817857"/>
                      <a:pt x="944073" y="868861"/>
                      <a:pt x="906467" y="906467"/>
                    </a:cubicBezTo>
                    <a:cubicBezTo>
                      <a:pt x="868861" y="944073"/>
                      <a:pt x="817857" y="965200"/>
                      <a:pt x="764674" y="965200"/>
                    </a:cubicBezTo>
                    <a:lnTo>
                      <a:pt x="200526" y="965200"/>
                    </a:lnTo>
                    <a:cubicBezTo>
                      <a:pt x="147343" y="965200"/>
                      <a:pt x="96339" y="944073"/>
                      <a:pt x="58733" y="906467"/>
                    </a:cubicBezTo>
                    <a:cubicBezTo>
                      <a:pt x="21127" y="868861"/>
                      <a:pt x="0" y="817857"/>
                      <a:pt x="0" y="764674"/>
                    </a:cubicBezTo>
                    <a:lnTo>
                      <a:pt x="0" y="200526"/>
                    </a:lnTo>
                    <a:cubicBezTo>
                      <a:pt x="0" y="147343"/>
                      <a:pt x="21127" y="96339"/>
                      <a:pt x="58733" y="58733"/>
                    </a:cubicBezTo>
                    <a:cubicBezTo>
                      <a:pt x="96339" y="21127"/>
                      <a:pt x="147343" y="0"/>
                      <a:pt x="2005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9525"/>
                <a:ext cx="965200" cy="955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97"/>
                  </a:lnSpc>
                </a:pPr>
                <a:r>
                  <a:rPr lang="en-US" sz="1650" b="true">
                    <a:solidFill>
                      <a:srgbClr val="10233E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01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333500" y="298450"/>
              <a:ext cx="9271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Experiments live in separate silos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1206500" y="952500"/>
              <a:ext cx="9144000" cy="25400"/>
              <a:chOff x="0" y="0"/>
              <a:chExt cx="9144000" cy="25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14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9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144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952500" y="4048125"/>
            <a:ext cx="7953375" cy="733425"/>
            <a:chOff x="0" y="0"/>
            <a:chExt cx="10604500" cy="9779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200526" y="0"/>
                    </a:moveTo>
                    <a:lnTo>
                      <a:pt x="764674" y="0"/>
                    </a:lnTo>
                    <a:cubicBezTo>
                      <a:pt x="817857" y="0"/>
                      <a:pt x="868861" y="21127"/>
                      <a:pt x="906467" y="58733"/>
                    </a:cubicBezTo>
                    <a:cubicBezTo>
                      <a:pt x="944073" y="96339"/>
                      <a:pt x="965200" y="147343"/>
                      <a:pt x="965200" y="200526"/>
                    </a:cubicBezTo>
                    <a:lnTo>
                      <a:pt x="965200" y="764674"/>
                    </a:lnTo>
                    <a:cubicBezTo>
                      <a:pt x="965200" y="817857"/>
                      <a:pt x="944073" y="868861"/>
                      <a:pt x="906467" y="906467"/>
                    </a:cubicBezTo>
                    <a:cubicBezTo>
                      <a:pt x="868861" y="944073"/>
                      <a:pt x="817857" y="965200"/>
                      <a:pt x="764674" y="965200"/>
                    </a:cubicBezTo>
                    <a:lnTo>
                      <a:pt x="200526" y="965200"/>
                    </a:lnTo>
                    <a:cubicBezTo>
                      <a:pt x="147343" y="965200"/>
                      <a:pt x="96339" y="944073"/>
                      <a:pt x="58733" y="906467"/>
                    </a:cubicBezTo>
                    <a:cubicBezTo>
                      <a:pt x="21127" y="868861"/>
                      <a:pt x="0" y="817857"/>
                      <a:pt x="0" y="764674"/>
                    </a:cubicBezTo>
                    <a:lnTo>
                      <a:pt x="0" y="200526"/>
                    </a:lnTo>
                    <a:cubicBezTo>
                      <a:pt x="0" y="147343"/>
                      <a:pt x="21127" y="96339"/>
                      <a:pt x="58733" y="58733"/>
                    </a:cubicBezTo>
                    <a:cubicBezTo>
                      <a:pt x="96339" y="21127"/>
                      <a:pt x="147343" y="0"/>
                      <a:pt x="2005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965200" cy="955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97"/>
                  </a:lnSpc>
                </a:pPr>
                <a:r>
                  <a:rPr lang="en-US" sz="1650" b="true">
                    <a:solidFill>
                      <a:srgbClr val="10233E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02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3500" y="298450"/>
              <a:ext cx="9271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The same setup code is rewritten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206500" y="952500"/>
              <a:ext cx="9144000" cy="25400"/>
              <a:chOff x="0" y="0"/>
              <a:chExt cx="9144000" cy="25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14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9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9144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952500" y="5476875"/>
            <a:ext cx="7953375" cy="733425"/>
            <a:chOff x="0" y="0"/>
            <a:chExt cx="10604500" cy="9779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200526" y="0"/>
                    </a:moveTo>
                    <a:lnTo>
                      <a:pt x="764674" y="0"/>
                    </a:lnTo>
                    <a:cubicBezTo>
                      <a:pt x="817857" y="0"/>
                      <a:pt x="868861" y="21127"/>
                      <a:pt x="906467" y="58733"/>
                    </a:cubicBezTo>
                    <a:cubicBezTo>
                      <a:pt x="944073" y="96339"/>
                      <a:pt x="965200" y="147343"/>
                      <a:pt x="965200" y="200526"/>
                    </a:cubicBezTo>
                    <a:lnTo>
                      <a:pt x="965200" y="764674"/>
                    </a:lnTo>
                    <a:cubicBezTo>
                      <a:pt x="965200" y="817857"/>
                      <a:pt x="944073" y="868861"/>
                      <a:pt x="906467" y="906467"/>
                    </a:cubicBezTo>
                    <a:cubicBezTo>
                      <a:pt x="868861" y="944073"/>
                      <a:pt x="817857" y="965200"/>
                      <a:pt x="764674" y="965200"/>
                    </a:cubicBezTo>
                    <a:lnTo>
                      <a:pt x="200526" y="965200"/>
                    </a:lnTo>
                    <a:cubicBezTo>
                      <a:pt x="147343" y="965200"/>
                      <a:pt x="96339" y="944073"/>
                      <a:pt x="58733" y="906467"/>
                    </a:cubicBezTo>
                    <a:cubicBezTo>
                      <a:pt x="21127" y="868861"/>
                      <a:pt x="0" y="817857"/>
                      <a:pt x="0" y="764674"/>
                    </a:cubicBezTo>
                    <a:lnTo>
                      <a:pt x="0" y="200526"/>
                    </a:lnTo>
                    <a:cubicBezTo>
                      <a:pt x="0" y="147343"/>
                      <a:pt x="21127" y="96339"/>
                      <a:pt x="58733" y="58733"/>
                    </a:cubicBezTo>
                    <a:cubicBezTo>
                      <a:pt x="96339" y="21127"/>
                      <a:pt x="147343" y="0"/>
                      <a:pt x="2005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9525"/>
                <a:ext cx="965200" cy="955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97"/>
                  </a:lnSpc>
                </a:pPr>
                <a:r>
                  <a:rPr lang="en-US" sz="1650" b="true">
                    <a:solidFill>
                      <a:srgbClr val="10233E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03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333500" y="298450"/>
              <a:ext cx="9271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Modules rarely demonstrate interaction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1206500" y="952500"/>
              <a:ext cx="9144000" cy="25400"/>
              <a:chOff x="0" y="0"/>
              <a:chExt cx="9144000" cy="25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14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9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144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952500" y="6905625"/>
            <a:ext cx="7953375" cy="733425"/>
            <a:chOff x="0" y="0"/>
            <a:chExt cx="10604500" cy="9779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200526" y="0"/>
                    </a:moveTo>
                    <a:lnTo>
                      <a:pt x="764674" y="0"/>
                    </a:lnTo>
                    <a:cubicBezTo>
                      <a:pt x="817857" y="0"/>
                      <a:pt x="868861" y="21127"/>
                      <a:pt x="906467" y="58733"/>
                    </a:cubicBezTo>
                    <a:cubicBezTo>
                      <a:pt x="944073" y="96339"/>
                      <a:pt x="965200" y="147343"/>
                      <a:pt x="965200" y="200526"/>
                    </a:cubicBezTo>
                    <a:lnTo>
                      <a:pt x="965200" y="764674"/>
                    </a:lnTo>
                    <a:cubicBezTo>
                      <a:pt x="965200" y="817857"/>
                      <a:pt x="944073" y="868861"/>
                      <a:pt x="906467" y="906467"/>
                    </a:cubicBezTo>
                    <a:cubicBezTo>
                      <a:pt x="868861" y="944073"/>
                      <a:pt x="817857" y="965200"/>
                      <a:pt x="764674" y="965200"/>
                    </a:cubicBezTo>
                    <a:lnTo>
                      <a:pt x="200526" y="965200"/>
                    </a:lnTo>
                    <a:cubicBezTo>
                      <a:pt x="147343" y="965200"/>
                      <a:pt x="96339" y="944073"/>
                      <a:pt x="58733" y="906467"/>
                    </a:cubicBezTo>
                    <a:cubicBezTo>
                      <a:pt x="21127" y="868861"/>
                      <a:pt x="0" y="817857"/>
                      <a:pt x="0" y="764674"/>
                    </a:cubicBezTo>
                    <a:lnTo>
                      <a:pt x="0" y="200526"/>
                    </a:lnTo>
                    <a:cubicBezTo>
                      <a:pt x="0" y="147343"/>
                      <a:pt x="21127" y="96339"/>
                      <a:pt x="58733" y="58733"/>
                    </a:cubicBezTo>
                    <a:cubicBezTo>
                      <a:pt x="96339" y="21127"/>
                      <a:pt x="147343" y="0"/>
                      <a:pt x="200526" y="0"/>
                    </a:cubicBezTo>
                    <a:close/>
                  </a:path>
                </a:pathLst>
              </a:custGeom>
              <a:solidFill>
                <a:srgbClr val="1267D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9525"/>
                <a:ext cx="965200" cy="955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97"/>
                  </a:lnSpc>
                </a:pPr>
                <a:r>
                  <a:rPr lang="en-US" sz="1650" b="true">
                    <a:solidFill>
                      <a:srgbClr val="FFFF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04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333500" y="298450"/>
              <a:ext cx="9271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0233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System-level behavior stays abstract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206500" y="952500"/>
              <a:ext cx="9144000" cy="25400"/>
              <a:chOff x="0" y="0"/>
              <a:chExt cx="9144000" cy="25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144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BD9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9144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1049000" y="6191250"/>
            <a:ext cx="6191250" cy="1619250"/>
            <a:chOff x="0" y="0"/>
            <a:chExt cx="8255000" cy="2159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5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8255000">
                  <a:moveTo>
                    <a:pt x="23446" y="0"/>
                  </a:moveTo>
                  <a:lnTo>
                    <a:pt x="8231554" y="0"/>
                  </a:lnTo>
                  <a:cubicBezTo>
                    <a:pt x="8244503" y="0"/>
                    <a:pt x="8255000" y="10497"/>
                    <a:pt x="8255000" y="23446"/>
                  </a:cubicBezTo>
                  <a:lnTo>
                    <a:pt x="8255000" y="2135554"/>
                  </a:lnTo>
                  <a:cubicBezTo>
                    <a:pt x="8255000" y="2148503"/>
                    <a:pt x="8244503" y="2159000"/>
                    <a:pt x="8231554" y="2159000"/>
                  </a:cubicBezTo>
                  <a:lnTo>
                    <a:pt x="23446" y="2159000"/>
                  </a:lnTo>
                  <a:cubicBezTo>
                    <a:pt x="10497" y="2159000"/>
                    <a:pt x="0" y="2148503"/>
                    <a:pt x="0" y="2135554"/>
                  </a:cubicBezTo>
                  <a:lnTo>
                    <a:pt x="0" y="23446"/>
                  </a:lnTo>
                  <a:cubicBezTo>
                    <a:pt x="0" y="10497"/>
                    <a:pt x="10497" y="0"/>
                    <a:pt x="23446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255000" cy="215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CONFUSION BETWEEN</a:t>
              </a:r>
            </a:p>
            <a:p>
              <a:pPr algn="ctr">
                <a:lnSpc>
                  <a:spcPts val="241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CONCEPTS &amp; IMPLEMENTATION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28650"/>
            <a:ext cx="12382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One interface. Six connected capabilities.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90675"/>
            <a:ext cx="10477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36C5F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Execute, observe, and compare core operating-system behavior in one learning environment.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0" y="3667125"/>
            <a:ext cx="3810000" cy="2381250"/>
            <a:chOff x="0" y="0"/>
            <a:chExt cx="5080000" cy="317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3136900"/>
                  </a:lnTo>
                  <a:cubicBezTo>
                    <a:pt x="5080000" y="3157942"/>
                    <a:pt x="5062942" y="3175000"/>
                    <a:pt x="5041900" y="3175000"/>
                  </a:cubicBezTo>
                  <a:lnTo>
                    <a:pt x="38100" y="3175000"/>
                  </a:lnTo>
                  <a:cubicBezTo>
                    <a:pt x="17058" y="3175000"/>
                    <a:pt x="0" y="3157942"/>
                    <a:pt x="0" y="3136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5080000" cy="315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 PROGRAMMING</a:t>
              </a:r>
            </a:p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TOOLKIT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3500" y="3048000"/>
            <a:ext cx="2000250" cy="1047750"/>
            <a:chOff x="0" y="0"/>
            <a:chExt cx="2667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FILE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OPERATIONS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333750" y="3571875"/>
            <a:ext cx="3905250" cy="128587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1333500" y="6191250"/>
            <a:ext cx="2000250" cy="1047750"/>
            <a:chOff x="0" y="0"/>
            <a:chExt cx="2667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MANAGEMENT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3333750" y="4857750"/>
            <a:ext cx="3905250" cy="185737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4857750" y="7239000"/>
            <a:ext cx="2000250" cy="1047750"/>
            <a:chOff x="0" y="0"/>
            <a:chExt cx="2667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6858000" y="4857750"/>
            <a:ext cx="381000" cy="290512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1525250" y="7239000"/>
            <a:ext cx="2000250" cy="1047750"/>
            <a:chOff x="0" y="0"/>
            <a:chExt cx="2667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SIGNALS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H="true" flipV="true">
            <a:off x="11049000" y="4857750"/>
            <a:ext cx="476250" cy="290512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0">
            <a:off x="15049500" y="6191250"/>
            <a:ext cx="2000250" cy="1047750"/>
            <a:chOff x="0" y="0"/>
            <a:chExt cx="2667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IPC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11049000" y="4857750"/>
            <a:ext cx="4000500" cy="185737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5049500" y="3048000"/>
            <a:ext cx="2000250" cy="1047750"/>
            <a:chOff x="0" y="0"/>
            <a:chExt cx="26670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72571" y="0"/>
                  </a:moveTo>
                  <a:lnTo>
                    <a:pt x="2594429" y="0"/>
                  </a:lnTo>
                  <a:cubicBezTo>
                    <a:pt x="2613676" y="0"/>
                    <a:pt x="2632134" y="7646"/>
                    <a:pt x="2645744" y="21256"/>
                  </a:cubicBezTo>
                  <a:cubicBezTo>
                    <a:pt x="2659354" y="34865"/>
                    <a:pt x="2667000" y="53324"/>
                    <a:pt x="2667000" y="72571"/>
                  </a:cubicBezTo>
                  <a:lnTo>
                    <a:pt x="2667000" y="1324429"/>
                  </a:lnTo>
                  <a:cubicBezTo>
                    <a:pt x="2667000" y="1343676"/>
                    <a:pt x="2659354" y="1362135"/>
                    <a:pt x="2645744" y="1375744"/>
                  </a:cubicBezTo>
                  <a:cubicBezTo>
                    <a:pt x="2632134" y="1389354"/>
                    <a:pt x="2613676" y="1397000"/>
                    <a:pt x="2594429" y="1397000"/>
                  </a:cubicBezTo>
                  <a:lnTo>
                    <a:pt x="72571" y="1397000"/>
                  </a:lnTo>
                  <a:cubicBezTo>
                    <a:pt x="53324" y="1397000"/>
                    <a:pt x="34865" y="1389354"/>
                    <a:pt x="21256" y="1375744"/>
                  </a:cubicBezTo>
                  <a:cubicBezTo>
                    <a:pt x="7646" y="1362135"/>
                    <a:pt x="0" y="1343676"/>
                    <a:pt x="0" y="1324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2667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SCHEDULING</a:t>
              </a:r>
            </a:p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CONCEPTS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1049000" y="3571875"/>
            <a:ext cx="4000500" cy="128587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81025"/>
            <a:ext cx="114300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 clear path from intent to kernel.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54000" y="2124075"/>
            <a:ext cx="3810000" cy="92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E7189"/>
                </a:solidFill>
                <a:latin typeface="IBM Plex Sans"/>
                <a:ea typeface="IBM Plex Sans"/>
                <a:cs typeface="IBM Plex Sans"/>
                <a:sym typeface="IBM Plex Sans"/>
              </a:rPr>
              <a:t>Five focused modules share one controller and one system-call layer.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9250" y="2000250"/>
            <a:ext cx="10001250" cy="952500"/>
            <a:chOff x="0" y="0"/>
            <a:chExt cx="13335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335000">
                  <a:moveTo>
                    <a:pt x="14514" y="0"/>
                  </a:moveTo>
                  <a:lnTo>
                    <a:pt x="13320486" y="0"/>
                  </a:lnTo>
                  <a:cubicBezTo>
                    <a:pt x="13324336" y="0"/>
                    <a:pt x="13328027" y="1529"/>
                    <a:pt x="13330749" y="4251"/>
                  </a:cubicBezTo>
                  <a:cubicBezTo>
                    <a:pt x="13333471" y="6973"/>
                    <a:pt x="13335000" y="10665"/>
                    <a:pt x="13335000" y="14514"/>
                  </a:cubicBezTo>
                  <a:lnTo>
                    <a:pt x="13335000" y="1255486"/>
                  </a:lnTo>
                  <a:cubicBezTo>
                    <a:pt x="13335000" y="1259335"/>
                    <a:pt x="13333471" y="1263027"/>
                    <a:pt x="13330749" y="1265749"/>
                  </a:cubicBezTo>
                  <a:cubicBezTo>
                    <a:pt x="13328027" y="1268471"/>
                    <a:pt x="13324336" y="1270000"/>
                    <a:pt x="13320486" y="1270000"/>
                  </a:cubicBezTo>
                  <a:lnTo>
                    <a:pt x="14514" y="1270000"/>
                  </a:lnTo>
                  <a:cubicBezTo>
                    <a:pt x="10665" y="1270000"/>
                    <a:pt x="6973" y="1268471"/>
                    <a:pt x="4251" y="1265749"/>
                  </a:cubicBezTo>
                  <a:cubicBezTo>
                    <a:pt x="1529" y="1263027"/>
                    <a:pt x="0" y="1259335"/>
                    <a:pt x="0" y="1255486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333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USER INTERFACE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6619875" y="2952750"/>
            <a:ext cx="0" cy="381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1619250" y="3381375"/>
            <a:ext cx="10001250" cy="952500"/>
            <a:chOff x="0" y="0"/>
            <a:chExt cx="13335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335000">
                  <a:moveTo>
                    <a:pt x="14514" y="0"/>
                  </a:moveTo>
                  <a:lnTo>
                    <a:pt x="13320486" y="0"/>
                  </a:lnTo>
                  <a:cubicBezTo>
                    <a:pt x="13324336" y="0"/>
                    <a:pt x="13328027" y="1529"/>
                    <a:pt x="13330749" y="4251"/>
                  </a:cubicBezTo>
                  <a:cubicBezTo>
                    <a:pt x="13333471" y="6973"/>
                    <a:pt x="13335000" y="10665"/>
                    <a:pt x="13335000" y="14514"/>
                  </a:cubicBezTo>
                  <a:lnTo>
                    <a:pt x="13335000" y="1255486"/>
                  </a:lnTo>
                  <a:cubicBezTo>
                    <a:pt x="13335000" y="1259335"/>
                    <a:pt x="13333471" y="1263027"/>
                    <a:pt x="13330749" y="1265749"/>
                  </a:cubicBezTo>
                  <a:cubicBezTo>
                    <a:pt x="13328027" y="1268471"/>
                    <a:pt x="13324336" y="1270000"/>
                    <a:pt x="13320486" y="1270000"/>
                  </a:cubicBezTo>
                  <a:lnTo>
                    <a:pt x="14514" y="1270000"/>
                  </a:lnTo>
                  <a:cubicBezTo>
                    <a:pt x="10665" y="1270000"/>
                    <a:pt x="6973" y="1268471"/>
                    <a:pt x="4251" y="1265749"/>
                  </a:cubicBezTo>
                  <a:cubicBezTo>
                    <a:pt x="1529" y="1263027"/>
                    <a:pt x="0" y="1259335"/>
                    <a:pt x="0" y="1255486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333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TOOLKIT CONTROLLER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19875" y="4333875"/>
            <a:ext cx="0" cy="381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619250" y="4762500"/>
            <a:ext cx="10001250" cy="952500"/>
            <a:chOff x="0" y="0"/>
            <a:chExt cx="13335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335000">
                  <a:moveTo>
                    <a:pt x="14514" y="0"/>
                  </a:moveTo>
                  <a:lnTo>
                    <a:pt x="13320486" y="0"/>
                  </a:lnTo>
                  <a:cubicBezTo>
                    <a:pt x="13324336" y="0"/>
                    <a:pt x="13328027" y="1529"/>
                    <a:pt x="13330749" y="4251"/>
                  </a:cubicBezTo>
                  <a:cubicBezTo>
                    <a:pt x="13333471" y="6973"/>
                    <a:pt x="13335000" y="10665"/>
                    <a:pt x="13335000" y="14514"/>
                  </a:cubicBezTo>
                  <a:lnTo>
                    <a:pt x="13335000" y="1255486"/>
                  </a:lnTo>
                  <a:cubicBezTo>
                    <a:pt x="13335000" y="1259335"/>
                    <a:pt x="13333471" y="1263027"/>
                    <a:pt x="13330749" y="1265749"/>
                  </a:cubicBezTo>
                  <a:cubicBezTo>
                    <a:pt x="13328027" y="1268471"/>
                    <a:pt x="13324336" y="1270000"/>
                    <a:pt x="13320486" y="1270000"/>
                  </a:cubicBezTo>
                  <a:lnTo>
                    <a:pt x="14514" y="1270000"/>
                  </a:lnTo>
                  <a:cubicBezTo>
                    <a:pt x="10665" y="1270000"/>
                    <a:pt x="6973" y="1268471"/>
                    <a:pt x="4251" y="1265749"/>
                  </a:cubicBezTo>
                  <a:cubicBezTo>
                    <a:pt x="1529" y="1263027"/>
                    <a:pt x="0" y="1259335"/>
                    <a:pt x="0" y="1255486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333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EXPERIMENT MODULES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619875" y="5715000"/>
            <a:ext cx="0" cy="381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619250" y="6143625"/>
            <a:ext cx="10001250" cy="952500"/>
            <a:chOff x="0" y="0"/>
            <a:chExt cx="13335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335000">
                  <a:moveTo>
                    <a:pt x="14514" y="0"/>
                  </a:moveTo>
                  <a:lnTo>
                    <a:pt x="13320486" y="0"/>
                  </a:lnTo>
                  <a:cubicBezTo>
                    <a:pt x="13324336" y="0"/>
                    <a:pt x="13328027" y="1529"/>
                    <a:pt x="13330749" y="4251"/>
                  </a:cubicBezTo>
                  <a:cubicBezTo>
                    <a:pt x="13333471" y="6973"/>
                    <a:pt x="13335000" y="10665"/>
                    <a:pt x="13335000" y="14514"/>
                  </a:cubicBezTo>
                  <a:lnTo>
                    <a:pt x="13335000" y="1255486"/>
                  </a:lnTo>
                  <a:cubicBezTo>
                    <a:pt x="13335000" y="1259335"/>
                    <a:pt x="13333471" y="1263027"/>
                    <a:pt x="13330749" y="1265749"/>
                  </a:cubicBezTo>
                  <a:cubicBezTo>
                    <a:pt x="13328027" y="1268471"/>
                    <a:pt x="13324336" y="1270000"/>
                    <a:pt x="13320486" y="1270000"/>
                  </a:cubicBezTo>
                  <a:lnTo>
                    <a:pt x="14514" y="1270000"/>
                  </a:lnTo>
                  <a:cubicBezTo>
                    <a:pt x="10665" y="1270000"/>
                    <a:pt x="6973" y="1268471"/>
                    <a:pt x="4251" y="1265749"/>
                  </a:cubicBezTo>
                  <a:cubicBezTo>
                    <a:pt x="1529" y="1263027"/>
                    <a:pt x="0" y="1259335"/>
                    <a:pt x="0" y="1255486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333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 CALLS LAYER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6619875" y="7096125"/>
            <a:ext cx="0" cy="381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619250" y="7524750"/>
            <a:ext cx="10001250" cy="952500"/>
            <a:chOff x="0" y="0"/>
            <a:chExt cx="1333500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335000">
                  <a:moveTo>
                    <a:pt x="14514" y="0"/>
                  </a:moveTo>
                  <a:lnTo>
                    <a:pt x="13320486" y="0"/>
                  </a:lnTo>
                  <a:cubicBezTo>
                    <a:pt x="13324336" y="0"/>
                    <a:pt x="13328027" y="1529"/>
                    <a:pt x="13330749" y="4251"/>
                  </a:cubicBezTo>
                  <a:cubicBezTo>
                    <a:pt x="13333471" y="6973"/>
                    <a:pt x="13335000" y="10665"/>
                    <a:pt x="13335000" y="14514"/>
                  </a:cubicBezTo>
                  <a:lnTo>
                    <a:pt x="13335000" y="1255486"/>
                  </a:lnTo>
                  <a:cubicBezTo>
                    <a:pt x="13335000" y="1259335"/>
                    <a:pt x="13333471" y="1263027"/>
                    <a:pt x="13330749" y="1265749"/>
                  </a:cubicBezTo>
                  <a:cubicBezTo>
                    <a:pt x="13328027" y="1268471"/>
                    <a:pt x="13324336" y="1270000"/>
                    <a:pt x="13320486" y="1270000"/>
                  </a:cubicBezTo>
                  <a:lnTo>
                    <a:pt x="14514" y="1270000"/>
                  </a:lnTo>
                  <a:cubicBezTo>
                    <a:pt x="10665" y="1270000"/>
                    <a:pt x="6973" y="1268471"/>
                    <a:pt x="4251" y="1265749"/>
                  </a:cubicBezTo>
                  <a:cubicBezTo>
                    <a:pt x="1529" y="1263027"/>
                    <a:pt x="0" y="1259335"/>
                    <a:pt x="0" y="1255486"/>
                  </a:cubicBezTo>
                  <a:lnTo>
                    <a:pt x="0" y="14514"/>
                  </a:lnTo>
                  <a:cubicBezTo>
                    <a:pt x="0" y="10665"/>
                    <a:pt x="1529" y="6973"/>
                    <a:pt x="4251" y="4251"/>
                  </a:cubicBezTo>
                  <a:cubicBezTo>
                    <a:pt x="6973" y="1529"/>
                    <a:pt x="10665" y="0"/>
                    <a:pt x="14514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333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LINUX KERNEL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54000" y="4429125"/>
            <a:ext cx="2857500" cy="552450"/>
            <a:chOff x="0" y="0"/>
            <a:chExt cx="3810000" cy="736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685800"/>
                  </a:lnTo>
                  <a:cubicBezTo>
                    <a:pt x="3810000" y="713856"/>
                    <a:pt x="3787256" y="736600"/>
                    <a:pt x="37592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810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54000" y="5153025"/>
            <a:ext cx="2857500" cy="552450"/>
            <a:chOff x="0" y="0"/>
            <a:chExt cx="3810000" cy="73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685800"/>
                  </a:lnTo>
                  <a:cubicBezTo>
                    <a:pt x="3810000" y="713856"/>
                    <a:pt x="3787256" y="736600"/>
                    <a:pt x="37592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3810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54000" y="5876925"/>
            <a:ext cx="2857500" cy="552450"/>
            <a:chOff x="0" y="0"/>
            <a:chExt cx="3810000" cy="736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685800"/>
                  </a:lnTo>
                  <a:cubicBezTo>
                    <a:pt x="3810000" y="713856"/>
                    <a:pt x="3787256" y="736600"/>
                    <a:pt x="37592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3810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IPC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54000" y="6600825"/>
            <a:ext cx="2857500" cy="552450"/>
            <a:chOff x="0" y="0"/>
            <a:chExt cx="3810000" cy="73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685800"/>
                  </a:lnTo>
                  <a:cubicBezTo>
                    <a:pt x="3810000" y="713856"/>
                    <a:pt x="3787256" y="736600"/>
                    <a:pt x="37592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3810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54000" y="7324725"/>
            <a:ext cx="2857500" cy="552450"/>
            <a:chOff x="0" y="0"/>
            <a:chExt cx="3810000" cy="736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10000" cy="736600"/>
            </a:xfrm>
            <a:custGeom>
              <a:avLst/>
              <a:gdLst/>
              <a:ahLst/>
              <a:cxnLst/>
              <a:rect r="r" b="b" t="t" l="l"/>
              <a:pathLst>
                <a:path h="736600" w="3810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685800"/>
                  </a:lnTo>
                  <a:cubicBezTo>
                    <a:pt x="3810000" y="713856"/>
                    <a:pt x="3787256" y="736600"/>
                    <a:pt x="37592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38100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SIGNAL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81025"/>
            <a:ext cx="123825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source code to observable behavior.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533525"/>
            <a:ext cx="9525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5E7189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experiment exposes the call, its result, and its effect on the running system.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905250"/>
            <a:ext cx="2333625" cy="1714500"/>
            <a:chOff x="0" y="0"/>
            <a:chExt cx="31115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FILE HANDLING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open · read · write · close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286125" y="4762500"/>
            <a:ext cx="3810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3762375" y="3905250"/>
            <a:ext cx="2333625" cy="1714500"/>
            <a:chOff x="0" y="0"/>
            <a:chExt cx="31115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 CREATION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fork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096000" y="4762500"/>
            <a:ext cx="3810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6572250" y="3905250"/>
            <a:ext cx="2333625" cy="1714500"/>
            <a:chOff x="0" y="0"/>
            <a:chExt cx="31115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PROGRAM EXECUTION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exec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905875" y="4762500"/>
            <a:ext cx="3810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9382125" y="3905250"/>
            <a:ext cx="2333625" cy="1714500"/>
            <a:chOff x="0" y="0"/>
            <a:chExt cx="31115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SYNCHRONIZATION</a:t>
              </a:r>
            </a:p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wait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715750" y="4762500"/>
            <a:ext cx="3810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2192000" y="3905250"/>
            <a:ext cx="2333625" cy="1714500"/>
            <a:chOff x="0" y="0"/>
            <a:chExt cx="3111500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SIGNAL HANDLING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525625" y="4762500"/>
            <a:ext cx="3810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5001875" y="3905250"/>
            <a:ext cx="2333625" cy="1714500"/>
            <a:chOff x="0" y="0"/>
            <a:chExt cx="31115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11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115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2223796"/>
                  </a:lnTo>
                  <a:cubicBezTo>
                    <a:pt x="3111500" y="2240293"/>
                    <a:pt x="3104946" y="2256115"/>
                    <a:pt x="3093281" y="2267781"/>
                  </a:cubicBezTo>
                  <a:cubicBezTo>
                    <a:pt x="3081615" y="2279446"/>
                    <a:pt x="3065793" y="2286000"/>
                    <a:pt x="3049296" y="2286000"/>
                  </a:cubicBezTo>
                  <a:lnTo>
                    <a:pt x="62204" y="2286000"/>
                  </a:lnTo>
                  <a:cubicBezTo>
                    <a:pt x="45707" y="2286000"/>
                    <a:pt x="29885" y="2279446"/>
                    <a:pt x="18219" y="2267781"/>
                  </a:cubicBezTo>
                  <a:cubicBezTo>
                    <a:pt x="6554" y="2256115"/>
                    <a:pt x="0" y="2240293"/>
                    <a:pt x="0" y="2223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111500" cy="227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PIPE COMMUNICATION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48250" y="7239000"/>
            <a:ext cx="8191500" cy="1143000"/>
            <a:chOff x="0" y="0"/>
            <a:chExt cx="10922000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2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922000">
                  <a:moveTo>
                    <a:pt x="17721" y="0"/>
                  </a:moveTo>
                  <a:lnTo>
                    <a:pt x="10904279" y="0"/>
                  </a:lnTo>
                  <a:cubicBezTo>
                    <a:pt x="10914066" y="0"/>
                    <a:pt x="10922000" y="7934"/>
                    <a:pt x="10922000" y="17721"/>
                  </a:cubicBezTo>
                  <a:lnTo>
                    <a:pt x="10922000" y="1506279"/>
                  </a:lnTo>
                  <a:cubicBezTo>
                    <a:pt x="10922000" y="1516066"/>
                    <a:pt x="10914066" y="1524000"/>
                    <a:pt x="10904279" y="1524000"/>
                  </a:cubicBezTo>
                  <a:lnTo>
                    <a:pt x="17721" y="1524000"/>
                  </a:lnTo>
                  <a:cubicBezTo>
                    <a:pt x="7934" y="1524000"/>
                    <a:pt x="0" y="1516066"/>
                    <a:pt x="0" y="1506279"/>
                  </a:cubicBezTo>
                  <a:lnTo>
                    <a:pt x="0" y="17721"/>
                  </a:lnTo>
                  <a:cubicBezTo>
                    <a:pt x="0" y="7934"/>
                    <a:pt x="7934" y="0"/>
                    <a:pt x="17721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22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5"/>
                </a:lnSpc>
              </a:pPr>
              <a:r>
                <a:rPr lang="en-US" sz="21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RUN  →  TRACE  →  EXPLAIN  →  REPEAT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81025"/>
            <a:ext cx="1381125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Processes branch. Threads multiply execution.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8734425"/>
            <a:ext cx="1476375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36C5F0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fork()   exec()   wait()   pthread_create()   pthread_join()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39000" y="2190750"/>
            <a:ext cx="3810000" cy="1143000"/>
            <a:chOff x="0" y="0"/>
            <a:chExt cx="5080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1485900"/>
                  </a:lnTo>
                  <a:cubicBezTo>
                    <a:pt x="5080000" y="1506942"/>
                    <a:pt x="5062942" y="1524000"/>
                    <a:pt x="5041900" y="1524000"/>
                  </a:cubicBezTo>
                  <a:lnTo>
                    <a:pt x="38100" y="1524000"/>
                  </a:lnTo>
                  <a:cubicBezTo>
                    <a:pt x="17058" y="1524000"/>
                    <a:pt x="0" y="1506942"/>
                    <a:pt x="0" y="1485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5080000" cy="1524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PARENT PROCESS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67000" y="4857750"/>
            <a:ext cx="3429000" cy="1143000"/>
            <a:chOff x="0" y="0"/>
            <a:chExt cx="4572000" cy="152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481667"/>
                  </a:lnTo>
                  <a:cubicBezTo>
                    <a:pt x="4572000" y="1492894"/>
                    <a:pt x="4567540" y="1503662"/>
                    <a:pt x="4559601" y="1511601"/>
                  </a:cubicBezTo>
                  <a:cubicBezTo>
                    <a:pt x="4551662" y="1519540"/>
                    <a:pt x="4540894" y="1524000"/>
                    <a:pt x="4529667" y="1524000"/>
                  </a:cubicBezTo>
                  <a:lnTo>
                    <a:pt x="42333" y="1524000"/>
                  </a:lnTo>
                  <a:cubicBezTo>
                    <a:pt x="31106" y="1524000"/>
                    <a:pt x="20338" y="1519540"/>
                    <a:pt x="12399" y="1511601"/>
                  </a:cubicBezTo>
                  <a:cubicBezTo>
                    <a:pt x="4460" y="1503662"/>
                    <a:pt x="0" y="1492894"/>
                    <a:pt x="0" y="1481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572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CHILD PROCESS 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0" y="4857750"/>
            <a:ext cx="3810000" cy="1143000"/>
            <a:chOff x="0" y="0"/>
            <a:chExt cx="5080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080000">
                  <a:moveTo>
                    <a:pt x="38100" y="0"/>
                  </a:moveTo>
                  <a:lnTo>
                    <a:pt x="5041900" y="0"/>
                  </a:lnTo>
                  <a:cubicBezTo>
                    <a:pt x="5062942" y="0"/>
                    <a:pt x="5080000" y="17058"/>
                    <a:pt x="5080000" y="38100"/>
                  </a:cubicBezTo>
                  <a:lnTo>
                    <a:pt x="5080000" y="1485900"/>
                  </a:lnTo>
                  <a:cubicBezTo>
                    <a:pt x="5080000" y="1506942"/>
                    <a:pt x="5062942" y="1524000"/>
                    <a:pt x="5041900" y="1524000"/>
                  </a:cubicBezTo>
                  <a:lnTo>
                    <a:pt x="38100" y="1524000"/>
                  </a:lnTo>
                  <a:cubicBezTo>
                    <a:pt x="17058" y="1524000"/>
                    <a:pt x="0" y="1506942"/>
                    <a:pt x="0" y="1485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5080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CHILD PROCESS 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92000" y="4857750"/>
            <a:ext cx="3429000" cy="1143000"/>
            <a:chOff x="0" y="0"/>
            <a:chExt cx="4572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481667"/>
                  </a:lnTo>
                  <a:cubicBezTo>
                    <a:pt x="4572000" y="1492894"/>
                    <a:pt x="4567540" y="1503662"/>
                    <a:pt x="4559601" y="1511601"/>
                  </a:cubicBezTo>
                  <a:cubicBezTo>
                    <a:pt x="4551662" y="1519540"/>
                    <a:pt x="4540894" y="1524000"/>
                    <a:pt x="4529667" y="1524000"/>
                  </a:cubicBezTo>
                  <a:lnTo>
                    <a:pt x="42333" y="1524000"/>
                  </a:lnTo>
                  <a:cubicBezTo>
                    <a:pt x="31106" y="1524000"/>
                    <a:pt x="20338" y="1519540"/>
                    <a:pt x="12399" y="1511601"/>
                  </a:cubicBezTo>
                  <a:cubicBezTo>
                    <a:pt x="4460" y="1503662"/>
                    <a:pt x="0" y="1492894"/>
                    <a:pt x="0" y="1481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572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CHILD PROCESS C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H="true">
            <a:off x="4381500" y="3333750"/>
            <a:ext cx="4191000" cy="1524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9144000" y="3333750"/>
            <a:ext cx="0" cy="1524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9715500" y="3333750"/>
            <a:ext cx="4191000" cy="152400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6191250" y="6953250"/>
            <a:ext cx="1238250" cy="857250"/>
            <a:chOff x="0" y="0"/>
            <a:chExt cx="16510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5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651000">
                  <a:moveTo>
                    <a:pt x="117231" y="0"/>
                  </a:moveTo>
                  <a:lnTo>
                    <a:pt x="1533769" y="0"/>
                  </a:lnTo>
                  <a:cubicBezTo>
                    <a:pt x="1564861" y="0"/>
                    <a:pt x="1594679" y="12351"/>
                    <a:pt x="1616664" y="34336"/>
                  </a:cubicBezTo>
                  <a:cubicBezTo>
                    <a:pt x="1638649" y="56321"/>
                    <a:pt x="1651000" y="86139"/>
                    <a:pt x="1651000" y="117231"/>
                  </a:cubicBezTo>
                  <a:lnTo>
                    <a:pt x="1651000" y="1025769"/>
                  </a:lnTo>
                  <a:cubicBezTo>
                    <a:pt x="1651000" y="1056861"/>
                    <a:pt x="1638649" y="1086679"/>
                    <a:pt x="1616664" y="1108664"/>
                  </a:cubicBezTo>
                  <a:cubicBezTo>
                    <a:pt x="1594679" y="1130649"/>
                    <a:pt x="1564861" y="1143000"/>
                    <a:pt x="1533769" y="1143000"/>
                  </a:cubicBezTo>
                  <a:lnTo>
                    <a:pt x="117231" y="1143000"/>
                  </a:lnTo>
                  <a:cubicBezTo>
                    <a:pt x="86139" y="1143000"/>
                    <a:pt x="56321" y="1130649"/>
                    <a:pt x="34336" y="1108664"/>
                  </a:cubicBezTo>
                  <a:cubicBezTo>
                    <a:pt x="12351" y="1086679"/>
                    <a:pt x="0" y="1056861"/>
                    <a:pt x="0" y="1025769"/>
                  </a:cubicBezTo>
                  <a:lnTo>
                    <a:pt x="0" y="117231"/>
                  </a:lnTo>
                  <a:cubicBezTo>
                    <a:pt x="0" y="86139"/>
                    <a:pt x="12351" y="56321"/>
                    <a:pt x="34336" y="34336"/>
                  </a:cubicBezTo>
                  <a:cubicBezTo>
                    <a:pt x="56321" y="12351"/>
                    <a:pt x="86139" y="0"/>
                    <a:pt x="117231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651000" cy="114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2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 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10500" y="6953250"/>
            <a:ext cx="1238250" cy="857250"/>
            <a:chOff x="0" y="0"/>
            <a:chExt cx="1651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5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651000">
                  <a:moveTo>
                    <a:pt x="117231" y="0"/>
                  </a:moveTo>
                  <a:lnTo>
                    <a:pt x="1533769" y="0"/>
                  </a:lnTo>
                  <a:cubicBezTo>
                    <a:pt x="1564861" y="0"/>
                    <a:pt x="1594679" y="12351"/>
                    <a:pt x="1616664" y="34336"/>
                  </a:cubicBezTo>
                  <a:cubicBezTo>
                    <a:pt x="1638649" y="56321"/>
                    <a:pt x="1651000" y="86139"/>
                    <a:pt x="1651000" y="117231"/>
                  </a:cubicBezTo>
                  <a:lnTo>
                    <a:pt x="1651000" y="1025769"/>
                  </a:lnTo>
                  <a:cubicBezTo>
                    <a:pt x="1651000" y="1056861"/>
                    <a:pt x="1638649" y="1086679"/>
                    <a:pt x="1616664" y="1108664"/>
                  </a:cubicBezTo>
                  <a:cubicBezTo>
                    <a:pt x="1594679" y="1130649"/>
                    <a:pt x="1564861" y="1143000"/>
                    <a:pt x="1533769" y="1143000"/>
                  </a:cubicBezTo>
                  <a:lnTo>
                    <a:pt x="117231" y="1143000"/>
                  </a:lnTo>
                  <a:cubicBezTo>
                    <a:pt x="86139" y="1143000"/>
                    <a:pt x="56321" y="1130649"/>
                    <a:pt x="34336" y="1108664"/>
                  </a:cubicBezTo>
                  <a:cubicBezTo>
                    <a:pt x="12351" y="1086679"/>
                    <a:pt x="0" y="1056861"/>
                    <a:pt x="0" y="1025769"/>
                  </a:cubicBezTo>
                  <a:lnTo>
                    <a:pt x="0" y="117231"/>
                  </a:lnTo>
                  <a:cubicBezTo>
                    <a:pt x="0" y="86139"/>
                    <a:pt x="12351" y="56321"/>
                    <a:pt x="34336" y="34336"/>
                  </a:cubicBezTo>
                  <a:cubicBezTo>
                    <a:pt x="56321" y="12351"/>
                    <a:pt x="86139" y="0"/>
                    <a:pt x="117231" y="0"/>
                  </a:cubicBezTo>
                  <a:close/>
                </a:path>
              </a:pathLst>
            </a:custGeom>
            <a:solidFill>
              <a:srgbClr val="28C98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651000" cy="114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2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 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6953250"/>
            <a:ext cx="1238250" cy="857250"/>
            <a:chOff x="0" y="0"/>
            <a:chExt cx="16510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651000">
                  <a:moveTo>
                    <a:pt x="117231" y="0"/>
                  </a:moveTo>
                  <a:lnTo>
                    <a:pt x="1533769" y="0"/>
                  </a:lnTo>
                  <a:cubicBezTo>
                    <a:pt x="1564861" y="0"/>
                    <a:pt x="1594679" y="12351"/>
                    <a:pt x="1616664" y="34336"/>
                  </a:cubicBezTo>
                  <a:cubicBezTo>
                    <a:pt x="1638649" y="56321"/>
                    <a:pt x="1651000" y="86139"/>
                    <a:pt x="1651000" y="117231"/>
                  </a:cubicBezTo>
                  <a:lnTo>
                    <a:pt x="1651000" y="1025769"/>
                  </a:lnTo>
                  <a:cubicBezTo>
                    <a:pt x="1651000" y="1056861"/>
                    <a:pt x="1638649" y="1086679"/>
                    <a:pt x="1616664" y="1108664"/>
                  </a:cubicBezTo>
                  <a:cubicBezTo>
                    <a:pt x="1594679" y="1130649"/>
                    <a:pt x="1564861" y="1143000"/>
                    <a:pt x="1533769" y="1143000"/>
                  </a:cubicBezTo>
                  <a:lnTo>
                    <a:pt x="117231" y="1143000"/>
                  </a:lnTo>
                  <a:cubicBezTo>
                    <a:pt x="86139" y="1143000"/>
                    <a:pt x="56321" y="1130649"/>
                    <a:pt x="34336" y="1108664"/>
                  </a:cubicBezTo>
                  <a:cubicBezTo>
                    <a:pt x="12351" y="1086679"/>
                    <a:pt x="0" y="1056861"/>
                    <a:pt x="0" y="1025769"/>
                  </a:cubicBezTo>
                  <a:lnTo>
                    <a:pt x="0" y="117231"/>
                  </a:lnTo>
                  <a:cubicBezTo>
                    <a:pt x="0" y="86139"/>
                    <a:pt x="12351" y="56321"/>
                    <a:pt x="34336" y="34336"/>
                  </a:cubicBezTo>
                  <a:cubicBezTo>
                    <a:pt x="56321" y="12351"/>
                    <a:pt x="86139" y="0"/>
                    <a:pt x="117231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651000" cy="114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2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 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49000" y="6953250"/>
            <a:ext cx="1238250" cy="857250"/>
            <a:chOff x="0" y="0"/>
            <a:chExt cx="1651000" cy="1143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651000">
                  <a:moveTo>
                    <a:pt x="117231" y="0"/>
                  </a:moveTo>
                  <a:lnTo>
                    <a:pt x="1533769" y="0"/>
                  </a:lnTo>
                  <a:cubicBezTo>
                    <a:pt x="1564861" y="0"/>
                    <a:pt x="1594679" y="12351"/>
                    <a:pt x="1616664" y="34336"/>
                  </a:cubicBezTo>
                  <a:cubicBezTo>
                    <a:pt x="1638649" y="56321"/>
                    <a:pt x="1651000" y="86139"/>
                    <a:pt x="1651000" y="117231"/>
                  </a:cubicBezTo>
                  <a:lnTo>
                    <a:pt x="1651000" y="1025769"/>
                  </a:lnTo>
                  <a:cubicBezTo>
                    <a:pt x="1651000" y="1056861"/>
                    <a:pt x="1638649" y="1086679"/>
                    <a:pt x="1616664" y="1108664"/>
                  </a:cubicBezTo>
                  <a:cubicBezTo>
                    <a:pt x="1594679" y="1130649"/>
                    <a:pt x="1564861" y="1143000"/>
                    <a:pt x="1533769" y="1143000"/>
                  </a:cubicBezTo>
                  <a:lnTo>
                    <a:pt x="117231" y="1143000"/>
                  </a:lnTo>
                  <a:cubicBezTo>
                    <a:pt x="86139" y="1143000"/>
                    <a:pt x="56321" y="1130649"/>
                    <a:pt x="34336" y="1108664"/>
                  </a:cubicBezTo>
                  <a:cubicBezTo>
                    <a:pt x="12351" y="1086679"/>
                    <a:pt x="0" y="1056861"/>
                    <a:pt x="0" y="1025769"/>
                  </a:cubicBezTo>
                  <a:lnTo>
                    <a:pt x="0" y="117231"/>
                  </a:lnTo>
                  <a:cubicBezTo>
                    <a:pt x="0" y="86139"/>
                    <a:pt x="12351" y="56321"/>
                    <a:pt x="34336" y="34336"/>
                  </a:cubicBezTo>
                  <a:cubicBezTo>
                    <a:pt x="56321" y="12351"/>
                    <a:pt x="86139" y="0"/>
                    <a:pt x="117231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651000" cy="1143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2"/>
                </a:lnSpc>
              </a:pPr>
              <a:r>
                <a:rPr lang="en-US" sz="13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THREAD 4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9144000" y="6000750"/>
            <a:ext cx="0" cy="809625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90550"/>
            <a:ext cx="13811250" cy="64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Processes coordinate through channels and signals.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05500" y="8162925"/>
            <a:ext cx="8572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267D6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pipe()  ·  dup2()  ·  signal()  ·  kill()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3429000"/>
            <a:ext cx="4000500" cy="2286000"/>
            <a:chOff x="0" y="0"/>
            <a:chExt cx="5334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3340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3011714"/>
                  </a:lnTo>
                  <a:cubicBezTo>
                    <a:pt x="5334000" y="3031754"/>
                    <a:pt x="5317754" y="3048000"/>
                    <a:pt x="5297714" y="3048000"/>
                  </a:cubicBezTo>
                  <a:lnTo>
                    <a:pt x="36286" y="3048000"/>
                  </a:lnTo>
                  <a:cubicBezTo>
                    <a:pt x="16246" y="3048000"/>
                    <a:pt x="0" y="3031754"/>
                    <a:pt x="0" y="3011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5334000" cy="302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 A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producer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63500" y="3429000"/>
            <a:ext cx="4000500" cy="2286000"/>
            <a:chOff x="0" y="0"/>
            <a:chExt cx="5334000" cy="304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3340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3011714"/>
                  </a:lnTo>
                  <a:cubicBezTo>
                    <a:pt x="5334000" y="3031754"/>
                    <a:pt x="5317754" y="3048000"/>
                    <a:pt x="5297714" y="3048000"/>
                  </a:cubicBezTo>
                  <a:lnTo>
                    <a:pt x="36286" y="3048000"/>
                  </a:lnTo>
                  <a:cubicBezTo>
                    <a:pt x="16246" y="3048000"/>
                    <a:pt x="0" y="3031754"/>
                    <a:pt x="0" y="3011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5334000" cy="302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PROCESS B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consumer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62750" y="3857625"/>
            <a:ext cx="4762500" cy="857250"/>
            <a:chOff x="0" y="0"/>
            <a:chExt cx="63500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350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1112520"/>
                  </a:lnTo>
                  <a:cubicBezTo>
                    <a:pt x="6350000" y="1129354"/>
                    <a:pt x="6336354" y="1143000"/>
                    <a:pt x="6319520" y="1143000"/>
                  </a:cubicBezTo>
                  <a:lnTo>
                    <a:pt x="30480" y="1143000"/>
                  </a:lnTo>
                  <a:cubicBezTo>
                    <a:pt x="13646" y="1143000"/>
                    <a:pt x="0" y="1129354"/>
                    <a:pt x="0" y="1112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635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PIPE / SHARED CHANNEL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524500" y="4286250"/>
            <a:ext cx="123825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11525250" y="4286250"/>
            <a:ext cx="123825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H="true">
            <a:off x="5524500" y="6191250"/>
            <a:ext cx="7239000" cy="0"/>
          </a:xfrm>
          <a:prstGeom prst="line">
            <a:avLst/>
          </a:prstGeom>
          <a:ln cap="rnd" w="38100">
            <a:solidFill>
              <a:srgbClr val="FFB454"/>
            </a:solidFill>
            <a:prstDash val="lgDash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7524750" y="5810250"/>
            <a:ext cx="3238500" cy="762000"/>
            <a:chOff x="0" y="0"/>
            <a:chExt cx="4318000" cy="10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18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318000">
                  <a:moveTo>
                    <a:pt x="44824" y="0"/>
                  </a:moveTo>
                  <a:lnTo>
                    <a:pt x="4273176" y="0"/>
                  </a:lnTo>
                  <a:cubicBezTo>
                    <a:pt x="4285064" y="0"/>
                    <a:pt x="4296465" y="4722"/>
                    <a:pt x="4304871" y="13129"/>
                  </a:cubicBezTo>
                  <a:cubicBezTo>
                    <a:pt x="4313277" y="21535"/>
                    <a:pt x="4318000" y="32936"/>
                    <a:pt x="4318000" y="44824"/>
                  </a:cubicBezTo>
                  <a:lnTo>
                    <a:pt x="4318000" y="971176"/>
                  </a:lnTo>
                  <a:cubicBezTo>
                    <a:pt x="4318000" y="983064"/>
                    <a:pt x="4313277" y="994465"/>
                    <a:pt x="4304871" y="1002872"/>
                  </a:cubicBezTo>
                  <a:cubicBezTo>
                    <a:pt x="4296465" y="1011278"/>
                    <a:pt x="4285064" y="1016000"/>
                    <a:pt x="4273176" y="1016000"/>
                  </a:cubicBezTo>
                  <a:lnTo>
                    <a:pt x="44824" y="1016000"/>
                  </a:lnTo>
                  <a:cubicBezTo>
                    <a:pt x="32936" y="1016000"/>
                    <a:pt x="21535" y="1011278"/>
                    <a:pt x="13129" y="1002872"/>
                  </a:cubicBezTo>
                  <a:cubicBezTo>
                    <a:pt x="4722" y="994465"/>
                    <a:pt x="0" y="983064"/>
                    <a:pt x="0" y="971176"/>
                  </a:cubicBezTo>
                  <a:lnTo>
                    <a:pt x="0" y="44824"/>
                  </a:lnTo>
                  <a:cubicBezTo>
                    <a:pt x="0" y="32936"/>
                    <a:pt x="4722" y="21535"/>
                    <a:pt x="13129" y="13129"/>
                  </a:cubicBezTo>
                  <a:cubicBezTo>
                    <a:pt x="21535" y="4722"/>
                    <a:pt x="32936" y="0"/>
                    <a:pt x="44824" y="0"/>
                  </a:cubicBezTo>
                  <a:close/>
                </a:path>
              </a:pathLst>
            </a:custGeom>
            <a:solidFill>
              <a:srgbClr val="FFB45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318000" cy="100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25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SIGNAL / TERMINATION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81025"/>
            <a:ext cx="1190625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33E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Less repetition. More understanding.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500" y="2181225"/>
            <a:ext cx="5334000" cy="94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1267D6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INTEGRATED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20500" y="3238500"/>
            <a:ext cx="5334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0233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LAB ENVIRONMENT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00" y="2857500"/>
            <a:ext cx="9144000" cy="866775"/>
            <a:chOff x="0" y="0"/>
            <a:chExt cx="12192000" cy="11557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63500"/>
              <a:ext cx="228600" cy="1092200"/>
              <a:chOff x="0" y="0"/>
              <a:chExt cx="228600" cy="10922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86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1092200"/>
                    </a:lnTo>
                    <a:lnTo>
                      <a:pt x="0" y="1092200"/>
                    </a:lnTo>
                    <a:close/>
                  </a:path>
                </a:pathLst>
              </a:custGeom>
              <a:solidFill>
                <a:srgbClr val="1267D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28600" cy="113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71500" y="-38100"/>
              <a:ext cx="82550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267D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FASTER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588000" y="2984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5E71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experiment execution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4333875"/>
            <a:ext cx="9144000" cy="866775"/>
            <a:chOff x="0" y="0"/>
            <a:chExt cx="12192000" cy="11557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63500"/>
              <a:ext cx="228600" cy="1092200"/>
              <a:chOff x="0" y="0"/>
              <a:chExt cx="228600" cy="10922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86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1092200"/>
                    </a:lnTo>
                    <a:lnTo>
                      <a:pt x="0" y="1092200"/>
                    </a:lnTo>
                    <a:close/>
                  </a:path>
                </a:pathLst>
              </a:custGeom>
              <a:solidFill>
                <a:srgbClr val="28C9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28600" cy="113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71500" y="-38100"/>
              <a:ext cx="82550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28C98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CLEARER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588000" y="2984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5E71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OS concept mapping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5810250"/>
            <a:ext cx="9144000" cy="866775"/>
            <a:chOff x="0" y="0"/>
            <a:chExt cx="12192000" cy="11557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63500"/>
              <a:ext cx="228600" cy="1092200"/>
              <a:chOff x="0" y="0"/>
              <a:chExt cx="228600" cy="1092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86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1092200"/>
                    </a:lnTo>
                    <a:lnTo>
                      <a:pt x="0" y="1092200"/>
                    </a:lnTo>
                    <a:close/>
                  </a:path>
                </a:pathLst>
              </a:custGeom>
              <a:solidFill>
                <a:srgbClr val="071A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28600" cy="113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-38100"/>
              <a:ext cx="82550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71A33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REUSABLE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588000" y="2984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5E71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module foundation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7286625"/>
            <a:ext cx="9144000" cy="866775"/>
            <a:chOff x="0" y="0"/>
            <a:chExt cx="12192000" cy="11557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63500"/>
              <a:ext cx="228600" cy="1092200"/>
              <a:chOff x="0" y="0"/>
              <a:chExt cx="228600" cy="1092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28600" cy="1092200"/>
              </a:xfrm>
              <a:custGeom>
                <a:avLst/>
                <a:gdLst/>
                <a:ahLst/>
                <a:cxnLst/>
                <a:rect r="r" b="b" t="t" l="l"/>
                <a:pathLst>
                  <a:path h="10922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1092200"/>
                    </a:lnTo>
                    <a:lnTo>
                      <a:pt x="0" y="1092200"/>
                    </a:lnTo>
                    <a:close/>
                  </a:path>
                </a:pathLst>
              </a:custGeom>
              <a:solidFill>
                <a:srgbClr val="36C5F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28600" cy="1130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71500" y="-38100"/>
              <a:ext cx="82550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36C5F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DEBUGGABLE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588000" y="2984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5E718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system-call exposure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01500" y="4953000"/>
            <a:ext cx="4000500" cy="4000500"/>
            <a:chOff x="0" y="0"/>
            <a:chExt cx="5334000" cy="533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3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5334000">
                  <a:moveTo>
                    <a:pt x="2667000" y="0"/>
                  </a:moveTo>
                  <a:cubicBezTo>
                    <a:pt x="4139943" y="0"/>
                    <a:pt x="5334000" y="1194057"/>
                    <a:pt x="5334000" y="2667000"/>
                  </a:cubicBezTo>
                  <a:cubicBezTo>
                    <a:pt x="5334000" y="4139943"/>
                    <a:pt x="4139943" y="5334000"/>
                    <a:pt x="2667000" y="5334000"/>
                  </a:cubicBezTo>
                  <a:cubicBezTo>
                    <a:pt x="1194057" y="5334000"/>
                    <a:pt x="0" y="4139943"/>
                    <a:pt x="0" y="2667000"/>
                  </a:cubicBezTo>
                  <a:cubicBezTo>
                    <a:pt x="0" y="1194057"/>
                    <a:pt x="1194057" y="0"/>
                    <a:pt x="2667000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334000" cy="539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7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BUILD</a:t>
              </a:r>
            </a:p>
            <a:p>
              <a:pPr algn="ctr">
                <a:lnSpc>
                  <a:spcPts val="3187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OBSERVE</a:t>
              </a:r>
            </a:p>
            <a:p>
              <a:pPr algn="ctr">
                <a:lnSpc>
                  <a:spcPts val="3187"/>
                </a:lnSpc>
              </a:pPr>
              <a:r>
                <a:rPr lang="en-US" sz="255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UNDERSTAND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581025"/>
            <a:ext cx="133350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The toolkit can evolve with the curriculum.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31432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852448"/>
                  </a:lnTo>
                  <a:cubicBezTo>
                    <a:pt x="3683000" y="1866386"/>
                    <a:pt x="3677463" y="1879753"/>
                    <a:pt x="3667608" y="1889608"/>
                  </a:cubicBezTo>
                  <a:cubicBezTo>
                    <a:pt x="3657753" y="1899463"/>
                    <a:pt x="3644386" y="1905000"/>
                    <a:pt x="3630448" y="1905000"/>
                  </a:cubicBezTo>
                  <a:lnTo>
                    <a:pt x="52552" y="1905000"/>
                  </a:lnTo>
                  <a:cubicBezTo>
                    <a:pt x="38614" y="1905000"/>
                    <a:pt x="25247" y="1899463"/>
                    <a:pt x="15392" y="1889608"/>
                  </a:cubicBezTo>
                  <a:cubicBezTo>
                    <a:pt x="5537" y="1879753"/>
                    <a:pt x="0" y="1866386"/>
                    <a:pt x="0" y="1852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68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GUI-BASED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INTERFACE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619500" y="3857625"/>
            <a:ext cx="5715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4286250" y="4953000"/>
            <a:ext cx="2762250" cy="1428750"/>
            <a:chOff x="0" y="0"/>
            <a:chExt cx="3683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852448"/>
                  </a:lnTo>
                  <a:cubicBezTo>
                    <a:pt x="3683000" y="1866386"/>
                    <a:pt x="3677463" y="1879753"/>
                    <a:pt x="3667608" y="1889608"/>
                  </a:cubicBezTo>
                  <a:cubicBezTo>
                    <a:pt x="3657753" y="1899463"/>
                    <a:pt x="3644386" y="1905000"/>
                    <a:pt x="3630448" y="1905000"/>
                  </a:cubicBezTo>
                  <a:lnTo>
                    <a:pt x="52552" y="1905000"/>
                  </a:lnTo>
                  <a:cubicBezTo>
                    <a:pt x="38614" y="1905000"/>
                    <a:pt x="25247" y="1899463"/>
                    <a:pt x="15392" y="1889608"/>
                  </a:cubicBezTo>
                  <a:cubicBezTo>
                    <a:pt x="5537" y="1879753"/>
                    <a:pt x="0" y="1866386"/>
                    <a:pt x="0" y="1852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68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NETWORK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PROGRAMMING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7048500" y="5667375"/>
            <a:ext cx="5715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7715250" y="3143250"/>
            <a:ext cx="2762250" cy="1428750"/>
            <a:chOff x="0" y="0"/>
            <a:chExt cx="3683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852448"/>
                  </a:lnTo>
                  <a:cubicBezTo>
                    <a:pt x="3683000" y="1866386"/>
                    <a:pt x="3677463" y="1879753"/>
                    <a:pt x="3667608" y="1889608"/>
                  </a:cubicBezTo>
                  <a:cubicBezTo>
                    <a:pt x="3657753" y="1899463"/>
                    <a:pt x="3644386" y="1905000"/>
                    <a:pt x="3630448" y="1905000"/>
                  </a:cubicBezTo>
                  <a:lnTo>
                    <a:pt x="52552" y="1905000"/>
                  </a:lnTo>
                  <a:cubicBezTo>
                    <a:pt x="38614" y="1905000"/>
                    <a:pt x="25247" y="1899463"/>
                    <a:pt x="15392" y="1889608"/>
                  </a:cubicBezTo>
                  <a:cubicBezTo>
                    <a:pt x="5537" y="1879753"/>
                    <a:pt x="0" y="1866386"/>
                    <a:pt x="0" y="1852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68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SCHEDULING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SIMULATOR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477500" y="3857625"/>
            <a:ext cx="5715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11144250" y="4953000"/>
            <a:ext cx="2762250" cy="1428750"/>
            <a:chOff x="0" y="0"/>
            <a:chExt cx="3683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852448"/>
                  </a:lnTo>
                  <a:cubicBezTo>
                    <a:pt x="3683000" y="1866386"/>
                    <a:pt x="3677463" y="1879753"/>
                    <a:pt x="3667608" y="1889608"/>
                  </a:cubicBezTo>
                  <a:cubicBezTo>
                    <a:pt x="3657753" y="1899463"/>
                    <a:pt x="3644386" y="1905000"/>
                    <a:pt x="3630448" y="1905000"/>
                  </a:cubicBezTo>
                  <a:lnTo>
                    <a:pt x="52552" y="1905000"/>
                  </a:lnTo>
                  <a:cubicBezTo>
                    <a:pt x="38614" y="1905000"/>
                    <a:pt x="25247" y="1899463"/>
                    <a:pt x="15392" y="1889608"/>
                  </a:cubicBezTo>
                  <a:cubicBezTo>
                    <a:pt x="5537" y="1879753"/>
                    <a:pt x="0" y="1866386"/>
                    <a:pt x="0" y="1852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68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MEMORY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VISUALIZATION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906500" y="5667375"/>
            <a:ext cx="571500" cy="0"/>
          </a:xfrm>
          <a:prstGeom prst="line">
            <a:avLst/>
          </a:prstGeom>
          <a:ln cap="rnd" w="38100">
            <a:solidFill>
              <a:srgbClr val="36C5F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4573250" y="3143250"/>
            <a:ext cx="2762250" cy="1428750"/>
            <a:chOff x="0" y="0"/>
            <a:chExt cx="3683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852448"/>
                  </a:lnTo>
                  <a:cubicBezTo>
                    <a:pt x="3683000" y="1866386"/>
                    <a:pt x="3677463" y="1879753"/>
                    <a:pt x="3667608" y="1889608"/>
                  </a:cubicBezTo>
                  <a:cubicBezTo>
                    <a:pt x="3657753" y="1899463"/>
                    <a:pt x="3644386" y="1905000"/>
                    <a:pt x="3630448" y="1905000"/>
                  </a:cubicBezTo>
                  <a:lnTo>
                    <a:pt x="52552" y="1905000"/>
                  </a:lnTo>
                  <a:cubicBezTo>
                    <a:pt x="38614" y="1905000"/>
                    <a:pt x="25247" y="1899463"/>
                    <a:pt x="15392" y="1889608"/>
                  </a:cubicBezTo>
                  <a:cubicBezTo>
                    <a:pt x="5537" y="1879753"/>
                    <a:pt x="0" y="1866386"/>
                    <a:pt x="0" y="1852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683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REAL-TIME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10233E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MONITORING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67250" y="7810500"/>
            <a:ext cx="8953500" cy="1047750"/>
            <a:chOff x="0" y="0"/>
            <a:chExt cx="11938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93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938000">
                  <a:moveTo>
                    <a:pt x="16213" y="0"/>
                  </a:moveTo>
                  <a:lnTo>
                    <a:pt x="11921787" y="0"/>
                  </a:lnTo>
                  <a:cubicBezTo>
                    <a:pt x="11926087" y="0"/>
                    <a:pt x="11930211" y="1708"/>
                    <a:pt x="11933251" y="4749"/>
                  </a:cubicBezTo>
                  <a:cubicBezTo>
                    <a:pt x="11936292" y="7789"/>
                    <a:pt x="11938000" y="11913"/>
                    <a:pt x="11938000" y="16213"/>
                  </a:cubicBezTo>
                  <a:lnTo>
                    <a:pt x="11938000" y="1380787"/>
                  </a:lnTo>
                  <a:cubicBezTo>
                    <a:pt x="11938000" y="1385087"/>
                    <a:pt x="11936292" y="1389211"/>
                    <a:pt x="11933251" y="1392251"/>
                  </a:cubicBezTo>
                  <a:cubicBezTo>
                    <a:pt x="11930211" y="1395292"/>
                    <a:pt x="11926087" y="1397000"/>
                    <a:pt x="11921787" y="1397000"/>
                  </a:cubicBezTo>
                  <a:lnTo>
                    <a:pt x="16213" y="1397000"/>
                  </a:lnTo>
                  <a:cubicBezTo>
                    <a:pt x="11913" y="1397000"/>
                    <a:pt x="7789" y="1395292"/>
                    <a:pt x="4749" y="1392251"/>
                  </a:cubicBezTo>
                  <a:cubicBezTo>
                    <a:pt x="1708" y="1389211"/>
                    <a:pt x="0" y="1385087"/>
                    <a:pt x="0" y="1380787"/>
                  </a:cubicBezTo>
                  <a:lnTo>
                    <a:pt x="0" y="16213"/>
                  </a:lnTo>
                  <a:cubicBezTo>
                    <a:pt x="0" y="11913"/>
                    <a:pt x="1708" y="7789"/>
                    <a:pt x="4749" y="4749"/>
                  </a:cubicBezTo>
                  <a:cubicBezTo>
                    <a:pt x="7789" y="1708"/>
                    <a:pt x="11913" y="0"/>
                    <a:pt x="16213" y="0"/>
                  </a:cubicBez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1938000" cy="139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8"/>
                </a:lnSpc>
              </a:pPr>
              <a:r>
                <a:rPr lang="en-US" sz="20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ONE EXTENSIBLE SYSTEMS LEARNING PLATFORM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847725"/>
            <a:ext cx="8572500" cy="94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438400"/>
            <a:ext cx="85725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36C5F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unified platform for practical system programming—connecting core OS concepts with real implementation.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4953000"/>
            <a:ext cx="1619250" cy="76200"/>
            <a:chOff x="0" y="0"/>
            <a:chExt cx="21590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36C5F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59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5676900"/>
            <a:ext cx="9906000" cy="246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i="true" b="true">
                <a:solidFill>
                  <a:srgbClr val="FFFFFF"/>
                </a:solidFill>
                <a:latin typeface="Akzidenz-Grotesk Bold Italics"/>
                <a:ea typeface="Akzidenz-Grotesk Bold Italics"/>
                <a:cs typeface="Akzidenz-Grotesk Bold Italics"/>
                <a:sym typeface="Akzidenz-Grotesk Bold Italics"/>
              </a:rPr>
              <a:t>“Learning Operating Systems is most effective when concepts are explored through real system-level implementation.”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239500" y="7239000"/>
            <a:ext cx="6096000" cy="1714500"/>
            <a:chOff x="0" y="0"/>
            <a:chExt cx="8128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3101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11000" y="7972425"/>
            <a:ext cx="53340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28C98B"/>
                </a:solidFill>
                <a:latin typeface="IBM Plex Mono"/>
                <a:ea typeface="IBM Plex Mono"/>
                <a:cs typeface="IBM Plex Mono"/>
                <a:sym typeface="IBM Plex Mono"/>
              </a:rPr>
              <a:t>$ toolkit --continue-learning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2381250"/>
            <a:ext cx="2952750" cy="2952750"/>
            <a:chOff x="0" y="0"/>
            <a:chExt cx="3937000" cy="393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37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3937000">
                  <a:moveTo>
                    <a:pt x="49161" y="0"/>
                  </a:moveTo>
                  <a:lnTo>
                    <a:pt x="3887839" y="0"/>
                  </a:lnTo>
                  <a:cubicBezTo>
                    <a:pt x="3900877" y="0"/>
                    <a:pt x="3913381" y="5179"/>
                    <a:pt x="3922601" y="14399"/>
                  </a:cubicBezTo>
                  <a:cubicBezTo>
                    <a:pt x="3931820" y="23619"/>
                    <a:pt x="3937000" y="36123"/>
                    <a:pt x="3937000" y="49161"/>
                  </a:cubicBezTo>
                  <a:lnTo>
                    <a:pt x="3937000" y="3887839"/>
                  </a:lnTo>
                  <a:cubicBezTo>
                    <a:pt x="3937000" y="3900877"/>
                    <a:pt x="3931820" y="3913381"/>
                    <a:pt x="3922601" y="3922601"/>
                  </a:cubicBezTo>
                  <a:cubicBezTo>
                    <a:pt x="3913381" y="3931820"/>
                    <a:pt x="3900877" y="3937000"/>
                    <a:pt x="3887839" y="3937000"/>
                  </a:cubicBezTo>
                  <a:lnTo>
                    <a:pt x="49161" y="3937000"/>
                  </a:lnTo>
                  <a:cubicBezTo>
                    <a:pt x="36123" y="3937000"/>
                    <a:pt x="23619" y="3931820"/>
                    <a:pt x="14399" y="3922601"/>
                  </a:cubicBezTo>
                  <a:cubicBezTo>
                    <a:pt x="5179" y="3913381"/>
                    <a:pt x="0" y="3900877"/>
                    <a:pt x="0" y="3887839"/>
                  </a:cubicBezTo>
                  <a:lnTo>
                    <a:pt x="0" y="49161"/>
                  </a:lnTo>
                  <a:cubicBezTo>
                    <a:pt x="0" y="36123"/>
                    <a:pt x="5179" y="23619"/>
                    <a:pt x="14399" y="14399"/>
                  </a:cubicBezTo>
                  <a:cubicBezTo>
                    <a:pt x="23619" y="5179"/>
                    <a:pt x="36123" y="0"/>
                    <a:pt x="49161" y="0"/>
                  </a:cubicBezTo>
                  <a:close/>
                </a:path>
              </a:pathLst>
            </a:custGeom>
            <a:solidFill>
              <a:srgbClr val="1267D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937000" cy="392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3"/>
                </a:lnSpc>
              </a:pPr>
              <a:r>
                <a:rPr lang="en-US" sz="23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CPU</a:t>
              </a:r>
            </a:p>
            <a:p>
              <a:pPr algn="ctr">
                <a:lnSpc>
                  <a:spcPts val="2673"/>
                </a:lnSpc>
              </a:pPr>
              <a:r>
                <a:rPr lang="en-US" sz="23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SYSTEM</a:t>
              </a:r>
            </a:p>
            <a:p>
              <a:pPr algn="ctr">
                <a:lnSpc>
                  <a:spcPts val="2673"/>
                </a:lnSpc>
              </a:pPr>
              <a:r>
                <a:rPr lang="en-US" sz="23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READY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DAHXZdizjeU</dc:identifier>
  <dcterms:modified xsi:type="dcterms:W3CDTF">2011-08-01T06:04:30Z</dcterms:modified>
  <cp:revision>1</cp:revision>
  <dc:title>System Programming Toolkit</dc:title>
</cp:coreProperties>
</file>